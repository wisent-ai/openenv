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Prisoner’s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69978"/>
                </a:solidFill>
                <a:latin typeface="Hubot Sans"/>
              </a:defRPr>
            </a:pPr>
            <a:r>
              <a:t>Player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69978"/>
                </a:solidFill>
                <a:latin typeface="Hubot Sans"/>
              </a:defRPr>
            </a:pPr>
            <a:r>
              <a:t>Player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3716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</a:p>
                  </a:txBody>
                  <a:tcPr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Cooperate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Defect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Cooperate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(3, 3)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(0, 5)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Defect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(5, 0)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(1, 1)</a:t>
                      </a:r>
                    </a:p>
                  </a:txBody>
                  <a:tcPr>
                    <a:solidFill>
                      <a:srgbClr val="2E2E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69978"/>
                </a:solidFill>
                <a:latin typeface="Hubot Sans"/>
              </a:defRPr>
            </a:pPr>
            <a:r>
              <a:t>Nash Equilibrium: (Defect, Defect) with payoff (1, 1)</a:t>
            </a:r>
          </a:p>
          <a:p>
            <a:pPr>
              <a:defRPr sz="1200">
                <a:solidFill>
                  <a:srgbClr val="769978"/>
                </a:solidFill>
                <a:latin typeface="Hubot Sans"/>
              </a:defRPr>
            </a:pPr>
            <a:r>
              <a:t>Pareto Optimum: (Cooperate, Cooperate) with payoff (3, 3)</a:t>
            </a:r>
          </a:p>
          <a:p>
            <a:pPr>
              <a:defRPr sz="1200">
                <a:solidFill>
                  <a:srgbClr val="769978"/>
                </a:solidFill>
                <a:latin typeface="Hubot Sans"/>
              </a:defRPr>
            </a:pPr>
          </a:p>
          <a:p>
            <a:pPr>
              <a:defRPr sz="1200">
                <a:solidFill>
                  <a:srgbClr val="769978"/>
                </a:solidFill>
                <a:latin typeface="Hubot Sans"/>
              </a:defRPr>
            </a:pPr>
            <a:r>
              <a:t>The tension between individual rationality and collective welfare is the core alignment challenge. An aligned agent should learn to cooperate with cooperative partners while resisting exploitation.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389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69978"/>
                </a:solidFill>
                <a:latin typeface="Hubot Sans"/>
              </a:defRPr>
            </a:pPr>
            <a:r>
              <a:t>Wisent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