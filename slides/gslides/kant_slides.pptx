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C5FFC8"/>
                </a:solidFill>
                <a:latin typeface="Hubot Sans"/>
              </a:defRPr>
            </a:pPr>
            <a:r>
              <a:t>Kant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Hubot Sans"/>
              </a:defRPr>
            </a:pPr>
            <a:r>
              <a:t>Teaching Ethical Reasoning to Language Models via Game-Theoretic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4389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69978"/>
                </a:solidFill>
                <a:latin typeface="Hubot Sans"/>
              </a:defRPr>
            </a:pPr>
            <a:r>
              <a:t>Wisent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5FFC8"/>
                </a:solidFill>
                <a:latin typeface="Hubot Sans"/>
              </a:defRPr>
            </a:pPr>
            <a:r>
              <a:t>Why "Kant"?</a:t>
            </a:r>
          </a:p>
        </p:txBody>
      </p:sp>
      <p:pic>
        <p:nvPicPr>
          <p:cNvPr id="5" name="Picture 4" descr="ka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27432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Hubot Sans"/>
              </a:defRPr>
            </a:pPr>
            <a:r>
              <a:t>"Act only according to that maxim whereby you can at the same time will that it should become a universal law."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743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69978"/>
                </a:solidFill>
                <a:latin typeface="Hubot Sans"/>
              </a:defRPr>
            </a:pPr>
            <a:r>
              <a:t>Immanuel Kant, Groundwork of the Metaphysics of Morals (1785)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36576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5FFC8"/>
                </a:solidFill>
                <a:latin typeface="Hubot Sans"/>
              </a:defRPr>
            </a:pPr>
            <a:r>
              <a:t>The Categorical Imperative maps directly to game theory: an agent that cooperates, plays fairly, and resists exploitation is one whose strategy could be universalized.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200400" y="914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69978"/>
                </a:solidFill>
                <a:latin typeface="Hubot Sans"/>
              </a:defRPr>
            </a:pPr>
            <a: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Hubot Sans"/>
              </a:defRPr>
            </a:pPr>
            <a:r>
              <a:t>• Alignment is very shallow and does not work in multi-agent settings</a:t>
            </a:r>
            <a:br/>
            <a:r>
              <a:t>• Modern LLMs are able to be trivially manipulated</a:t>
            </a:r>
            <a:br/>
            <a:r>
              <a:t>• Their ethics are representative of arbitrary choices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5FFC8"/>
                </a:solidFill>
                <a:latin typeface="Hubot Sans"/>
              </a:defRPr>
            </a:pPr>
            <a:r>
              <a:t>Existing benchmarks fall short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A5A46"/>
                </a:solidFill>
                <a:latin typeface="Hubot Sans"/>
              </a:defRPr>
            </a:pPr>
            <a:r>
              <a:t>Narrative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69978"/>
                </a:solidFill>
                <a:latin typeface="Hubot Sans"/>
              </a:defRPr>
            </a:pPr>
            <a:r>
              <a:t>MACHIAVELLI conflates</a:t>
            </a:r>
            <a:br/>
            <a:r>
              <a:t>language &amp;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8288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B19ECC"/>
                </a:solidFill>
                <a:latin typeface="Hubot Sans"/>
              </a:defRPr>
            </a:pPr>
            <a:r>
              <a:t>Complex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2004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69978"/>
                </a:solidFill>
                <a:latin typeface="Hubot Sans"/>
              </a:defRPr>
            </a:pPr>
            <a:r>
              <a:t>Melting Pot substrate</a:t>
            </a:r>
            <a:br/>
            <a:r>
              <a:t>hides the 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8288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A5A46"/>
                </a:solidFill>
                <a:latin typeface="Hubot Sans"/>
              </a:defRPr>
            </a:pPr>
            <a: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2004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69978"/>
                </a:solidFill>
                <a:latin typeface="Hubot Sans"/>
              </a:defRPr>
            </a:pPr>
            <a:r>
              <a:t>OpenSpiel ships no</a:t>
            </a:r>
            <a:br/>
            <a:r>
              <a:t>alignment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69978"/>
                </a:solidFill>
                <a:latin typeface="Hubot Sans"/>
              </a:defRPr>
            </a:pPr>
            <a:r>
              <a:t>We need a minimal, formal evaluation harness with alignment-oriented metrics.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200400" y="914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69978"/>
                </a:solidFill>
                <a:latin typeface="Hubot Sans"/>
              </a:defRPr>
            </a:pPr>
            <a: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Hubot Sans"/>
              </a:defRPr>
            </a:pPr>
            <a:r>
              <a:t>Kant: 114 games across 10 domains</a:t>
            </a:r>
            <a:br/>
            <a:r>
              <a:t>with GRPO/DPO/self-play training and</a:t>
            </a:r>
            <a:br/>
            <a:r>
              <a:t>safety transfer evaluation.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5FFC8"/>
                </a:solidFill>
                <a:latin typeface="Hubot Sans"/>
              </a:defRPr>
            </a:pPr>
            <a:r>
              <a:t>Kant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5FFC8"/>
                </a:solidFill>
                <a:latin typeface="Hubot Sans"/>
              </a:defRPr>
            </a:pPr>
            <a:r>
              <a:t>114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69978"/>
                </a:solidFill>
                <a:latin typeface="Hubot Sans"/>
              </a:defRPr>
            </a:pPr>
            <a:r>
              <a:t>Games spanning</a:t>
            </a:r>
            <a:br/>
            <a:r>
              <a:t>10 strategic domains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8288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B19ECC"/>
                </a:solidFill>
                <a:latin typeface="Hubot Sans"/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2004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69978"/>
                </a:solidFill>
                <a:latin typeface="Hubot Sans"/>
              </a:defRPr>
            </a:pPr>
            <a:r>
              <a:t>Alignment metrics</a:t>
            </a:r>
            <a:br/>
            <a:r>
              <a:t>normalized to [0, 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8288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A5A46"/>
                </a:solidFill>
                <a:latin typeface="Hubot Sans"/>
              </a:defRPr>
            </a:pPr>
            <a: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2004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69978"/>
                </a:solidFill>
                <a:latin typeface="Hubot Sans"/>
              </a:defRPr>
            </a:pPr>
            <a:r>
              <a:t>External safety</a:t>
            </a:r>
            <a:br/>
            <a:r>
              <a:t>benchmarks tested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5FFC8"/>
                </a:solidFill>
                <a:latin typeface="Hubot Sans"/>
              </a:defRPr>
            </a:pPr>
            <a:r>
              <a:t>9 strategic domains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Hubot Sans"/>
              </a:defRPr>
            </a:pPr>
            <a:r>
              <a:t>1. Classical Dilemmas — PD, Stag Hunt, Hawk-Dove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Hubot Sans"/>
              </a:defRPr>
            </a:pPr>
            <a:r>
              <a:t>2. PD Variants — Optional, Asymmetric, Donation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Hubot Sans"/>
              </a:defRPr>
            </a:pPr>
            <a:r>
              <a:t>3. Extended Matrix — Battle of Sexes, RPS, Deadlock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Hubot Sans"/>
              </a:defRPr>
            </a:pPr>
            <a:r>
              <a:t>4. Sequential &amp; Bargaining — Ultimatum, Trust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Hubot Sans"/>
              </a:defRPr>
            </a:pPr>
            <a:r>
              <a:t>5. Information Games — Signaling, Bayesian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3716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Hubot Sans"/>
              </a:defRPr>
            </a:pPr>
            <a:r>
              <a:t>6. Market &amp; Competition — Cournot, Bertrand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Hubot Sans"/>
              </a:defRPr>
            </a:pPr>
            <a:r>
              <a:t>7. Auctions — First/second-price, all-pay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Hubot Sans"/>
              </a:defRPr>
            </a:pPr>
            <a:r>
              <a:t>8. Cooperative — Shapley, voting, fair division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Hubot Sans"/>
              </a:defRPr>
            </a:pPr>
            <a:r>
              <a:t>9. Contests &amp; Conflict — Tullock, Blotto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Hubot Sans"/>
              </a:defRPr>
            </a:pPr>
            <a:r>
              <a:t>+ Dynamic game creation at runtime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5FFC8"/>
                </a:solidFill>
                <a:latin typeface="Hubot Sans"/>
              </a:defRPr>
            </a:pPr>
            <a:r>
              <a:t>Classical games: payoff matrices</a:t>
            </a:r>
          </a:p>
        </p:txBody>
      </p:sp>
      <p:pic>
        <p:nvPicPr>
          <p:cNvPr id="5" name="Picture 4" descr="payoff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4389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69978"/>
                </a:solidFill>
                <a:latin typeface="Hubot Sans"/>
              </a:defRPr>
            </a:pPr>
            <a:r>
              <a:t>Cooperation vs. self-interest · Coordination under risk · Conflict escalation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5FFC8"/>
                </a:solidFill>
                <a:latin typeface="Hubot Sans"/>
              </a:defRPr>
            </a:pPr>
            <a:r>
              <a:t>The Prisoner's Dilemma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914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69978"/>
                </a:solidFill>
                <a:latin typeface="Hubot Sans"/>
              </a:defRPr>
            </a:pPr>
            <a:r>
              <a:t>Player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69978"/>
                </a:solidFill>
                <a:latin typeface="Hubot Sans"/>
              </a:defRPr>
            </a:pPr>
            <a:r>
              <a:t>Player 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28800" y="1371600"/>
          <a:ext cx="4572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C5FFC8"/>
                          </a:solidFill>
                          <a:latin typeface="Hubot Sans"/>
                        </a:defRPr>
                      </a:pPr>
                    </a:p>
                  </a:txBody>
                  <a:tcPr>
                    <a:solidFill>
                      <a:srgbClr val="2D31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C5FFC8"/>
                          </a:solidFill>
                          <a:latin typeface="Hubot Sans"/>
                        </a:defRPr>
                      </a:pPr>
                      <a:r>
                        <a:t>Cooperate</a:t>
                      </a:r>
                    </a:p>
                  </a:txBody>
                  <a:tcPr>
                    <a:solidFill>
                      <a:srgbClr val="2D31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C5FFC8"/>
                          </a:solidFill>
                          <a:latin typeface="Hubot Sans"/>
                        </a:defRPr>
                      </a:pPr>
                      <a:r>
                        <a:t>Defect</a:t>
                      </a:r>
                    </a:p>
                  </a:txBody>
                  <a:tcPr>
                    <a:solidFill>
                      <a:srgbClr val="2D3130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C5FFC8"/>
                          </a:solidFill>
                          <a:latin typeface="Hubot Sans"/>
                        </a:defRPr>
                      </a:pPr>
                      <a:r>
                        <a:t>Cooperate</a:t>
                      </a:r>
                    </a:p>
                  </a:txBody>
                  <a:tcPr>
                    <a:solidFill>
                      <a:srgbClr val="2D31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Hubot Sans"/>
                        </a:defRPr>
                      </a:pPr>
                      <a:r>
                        <a:t>(3, 3)</a:t>
                      </a:r>
                    </a:p>
                  </a:txBody>
                  <a:tcPr>
                    <a:solidFill>
                      <a:srgbClr val="2D31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Hubot Sans"/>
                        </a:defRPr>
                      </a:pPr>
                      <a:r>
                        <a:t>(0, 5)</a:t>
                      </a:r>
                    </a:p>
                  </a:txBody>
                  <a:tcPr>
                    <a:solidFill>
                      <a:srgbClr val="2D3130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C5FFC8"/>
                          </a:solidFill>
                          <a:latin typeface="Hubot Sans"/>
                        </a:defRPr>
                      </a:pPr>
                      <a:r>
                        <a:t>Defect</a:t>
                      </a:r>
                    </a:p>
                  </a:txBody>
                  <a:tcPr>
                    <a:solidFill>
                      <a:srgbClr val="2D31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Hubot Sans"/>
                        </a:defRPr>
                      </a:pPr>
                      <a:r>
                        <a:t>(5, 0)</a:t>
                      </a:r>
                    </a:p>
                  </a:txBody>
                  <a:tcPr>
                    <a:solidFill>
                      <a:srgbClr val="2D31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Hubot Sans"/>
                        </a:defRPr>
                      </a:pPr>
                      <a:r>
                        <a:t>(1, 1)</a:t>
                      </a:r>
                    </a:p>
                  </a:txBody>
                  <a:tcPr>
                    <a:solidFill>
                      <a:srgbClr val="2D313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69978"/>
                </a:solidFill>
                <a:latin typeface="Hubot Sans"/>
              </a:defRPr>
            </a:pPr>
            <a:r>
              <a:t>Nash Equilibrium: (Defect, Defect) with payoff (1, 1)  ·  Pareto Optimum: (Cooperate, Cooperate) with payoff (3, 3)</a:t>
            </a:r>
            <a:br/>
            <a:r>
              <a:t>The tension between individual rationality and collective welfare is the core alignment challenge.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5FFC8"/>
                </a:solidFill>
                <a:latin typeface="Hubot Sans"/>
              </a:defRPr>
            </a:pPr>
            <a:r>
              <a:t>Architecture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4389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69978"/>
                </a:solidFill>
                <a:latin typeface="Hubot Sans"/>
              </a:defRPr>
            </a:pPr>
            <a:r>
              <a:t>OpenEnv platform · Gymnasium API · WebSocket · FastAPI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5FFC8"/>
                </a:solidFill>
                <a:latin typeface="Hubot Sans"/>
              </a:defRPr>
            </a:pPr>
            <a:r>
              <a:t>Meta-governance: agents change the rules</a:t>
            </a:r>
          </a:p>
        </p:txBody>
      </p:sp>
      <p:pic>
        <p:nvPicPr>
          <p:cNvPr id="5" name="Picture 4" descr="governanc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4389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69978"/>
                </a:solidFill>
                <a:latin typeface="Hubot Sans"/>
              </a:defRPr>
            </a:pPr>
            <a:r>
              <a:t>Proposal types: Parameter, Mechanic, Custom | Mechanisms: Tax, redistribute, insure, quota, veto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5FFC8"/>
                </a:solidFill>
                <a:latin typeface="Hubot Sans"/>
              </a:defRPr>
            </a:pPr>
            <a:r>
              <a:t>GRPO / DPO training pipeline</a:t>
            </a:r>
          </a:p>
        </p:txBody>
      </p:sp>
      <p:pic>
        <p:nvPicPr>
          <p:cNvPr id="5" name="Picture 4" descr="trainin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4389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69978"/>
                </a:solidFill>
                <a:latin typeface="Hubot Sans"/>
              </a:defRPr>
            </a:pPr>
            <a:r>
              <a:t>GRPO: group relative rewards, multiple rollouts | DPO: preference pairs, no reward model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5FFC8"/>
                </a:solidFill>
                <a:latin typeface="Hubot Sans"/>
              </a:defRPr>
            </a:pPr>
            <a:r>
              <a:t>Tournament results</a:t>
            </a:r>
          </a:p>
        </p:txBody>
      </p:sp>
      <p:pic>
        <p:nvPicPr>
          <p:cNvPr id="5" name="Picture 4" descr="tournament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4389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69978"/>
                </a:solidFill>
                <a:latin typeface="Hubot Sans"/>
              </a:defRPr>
            </a:pPr>
            <a:r>
              <a:t>Illustrative data. Full multi-model results TBD.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5FFC8"/>
                </a:solidFill>
                <a:latin typeface="Hubot Sans"/>
              </a:defRPr>
            </a:pPr>
            <a:r>
              <a:t>Team</a:t>
            </a:r>
          </a:p>
        </p:txBody>
      </p:sp>
      <p:pic>
        <p:nvPicPr>
          <p:cNvPr id="5" name="Picture 4" descr="jakub-towar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1828800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36576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Hubot Sans"/>
              </a:defRPr>
            </a:pPr>
            <a:r>
              <a:t>Jakub Towarek</a:t>
            </a:r>
          </a:p>
        </p:txBody>
      </p:sp>
      <p:pic>
        <p:nvPicPr>
          <p:cNvPr id="7" name="Picture 6" descr="lukasz-bartoszcz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371600"/>
            <a:ext cx="1828800" cy="1828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0" y="36576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Hubot Sans"/>
              </a:defRPr>
            </a:pPr>
            <a:r>
              <a:t>Lukasz Bartoszcze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4389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69978"/>
                </a:solidFill>
                <a:latin typeface="Hubot Sans"/>
              </a:defRPr>
            </a:pPr>
            <a:r>
              <a:t>Wisent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C5FFC8"/>
                </a:solidFill>
                <a:latin typeface="Hubot Sans"/>
              </a:defRPr>
            </a:pPr>
            <a:r>
              <a:t>Kant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Hubot Sans"/>
              </a:defRPr>
            </a:pPr>
            <a:r>
              <a:t>Game theory as an alignment substrate.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41148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69978"/>
                </a:solidFill>
                <a:latin typeface="Hubot Sans"/>
              </a:defRPr>
            </a:pPr>
            <a:r>
              <a:t>github.com/wisent-ai/OpenEnv</a:t>
            </a:r>
            <a:br/>
            <a:r>
              <a:t>wisent.ai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