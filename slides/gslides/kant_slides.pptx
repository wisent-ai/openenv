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/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000" b="1">
                <a:solidFill>
                  <a:srgbClr val="C5FFC8"/>
                </a:solidFill>
                <a:latin typeface="Hubot Sans"/>
              </a:defRPr>
            </a:pPr>
            <a:r>
              <a:t>Kant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200400"/>
            <a:ext cx="7315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FFFFFF"/>
                </a:solidFill>
                <a:latin typeface="Hubot Sans"/>
              </a:defRPr>
            </a:pPr>
            <a:r>
              <a:t>Teaching Ethical Reasoning to Language Models via Game-Theoretic Training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0" y="438912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769978"/>
                </a:solidFill>
                <a:latin typeface="Hubot Sans"/>
              </a:defRPr>
            </a:pPr>
            <a:r>
              <a:t>Wisent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/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C5FFC8"/>
                </a:solidFill>
                <a:latin typeface="Hubot Sans"/>
              </a:defRPr>
            </a:pPr>
            <a:r>
              <a:t>Why "Kant"?</a:t>
            </a:r>
          </a:p>
        </p:txBody>
      </p:sp>
      <p:pic>
        <p:nvPicPr>
          <p:cNvPr id="5" name="Picture 4" descr="kan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2743200" cy="36576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657600" y="1371600"/>
            <a:ext cx="4572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Hubot Sans"/>
              </a:defRPr>
            </a:pPr>
            <a:r>
              <a:t>"Act only according to that maxim whereby you can at the same time will that it should become a universal law."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0" y="27432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769978"/>
                </a:solidFill>
                <a:latin typeface="Hubot Sans"/>
              </a:defRPr>
            </a:pPr>
            <a:r>
              <a:t>Immanuel Kant, Groundwork of the Metaphysics of Morals (1785)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0" y="3657600"/>
            <a:ext cx="4572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5FFC8"/>
                </a:solidFill>
                <a:latin typeface="Hubot Sans"/>
              </a:defRPr>
            </a:pPr>
            <a:r>
              <a:t>The Categorical Imperative maps directly to game theory: an agent that cooperates, plays fairly, and resists exploitation is one whose strategy could be universalized.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/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200400" y="91440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769978"/>
                </a:solidFill>
                <a:latin typeface="Hubot Sans"/>
              </a:defRPr>
            </a:pPr>
            <a:r>
              <a:t>The Challenge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371600"/>
            <a:ext cx="73152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FFFFFF"/>
                </a:solidFill>
                <a:latin typeface="Hubot Sans"/>
              </a:defRPr>
            </a:pPr>
            <a:r>
              <a:t>• Alignment is very shallow and does not work in multi-agent settings</a:t>
            </a:r>
            <a:br/>
            <a:r>
              <a:t>• Modern LLMs are able to be trivially manipulated</a:t>
            </a:r>
            <a:br/>
            <a:r>
              <a:t>• Their ethics are representative of arbitrary choices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/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C5FFC8"/>
                </a:solidFill>
                <a:latin typeface="Hubot Sans"/>
              </a:defRPr>
            </a:pPr>
            <a:r>
              <a:t>Existing benchmarks fall short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828800"/>
            <a:ext cx="2743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A5A46"/>
                </a:solidFill>
                <a:latin typeface="Hubot Sans"/>
              </a:defRPr>
            </a:pPr>
            <a:r>
              <a:t>Narrative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20040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769978"/>
                </a:solidFill>
                <a:latin typeface="Hubot Sans"/>
              </a:defRPr>
            </a:pPr>
            <a:r>
              <a:t>MACHIAVELLI conflates</a:t>
            </a:r>
            <a:br/>
            <a:r>
              <a:t>language &amp; strategy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0" y="1828800"/>
            <a:ext cx="2743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B19ECC"/>
                </a:solidFill>
                <a:latin typeface="Hubot Sans"/>
              </a:defRPr>
            </a:pPr>
            <a:r>
              <a:t>Complex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320040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769978"/>
                </a:solidFill>
                <a:latin typeface="Hubot Sans"/>
              </a:defRPr>
            </a:pPr>
            <a:r>
              <a:t>Melting Pot substrate</a:t>
            </a:r>
            <a:br/>
            <a:r>
              <a:t>hides the signal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0" y="1828800"/>
            <a:ext cx="2743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A5A46"/>
                </a:solidFill>
                <a:latin typeface="Hubot Sans"/>
              </a:defRPr>
            </a:pPr>
            <a:r>
              <a:t>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320040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769978"/>
                </a:solidFill>
                <a:latin typeface="Hubot Sans"/>
              </a:defRPr>
            </a:pPr>
            <a:r>
              <a:t>OpenSpiel ships no</a:t>
            </a:r>
            <a:br/>
            <a:r>
              <a:t>alignment metrics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38912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769978"/>
                </a:solidFill>
                <a:latin typeface="Hubot Sans"/>
              </a:defRPr>
            </a:pPr>
            <a:r>
              <a:t>We need a minimal, formal evaluation harness with alignment-oriented metrics.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/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200400" y="91440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769978"/>
                </a:solidFill>
                <a:latin typeface="Hubot Sans"/>
              </a:defRPr>
            </a:pPr>
            <a:r>
              <a:t>The 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371600"/>
            <a:ext cx="73152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FFFFFF"/>
                </a:solidFill>
                <a:latin typeface="Hubot Sans"/>
              </a:defRPr>
            </a:pPr>
            <a:r>
              <a:t>Kant: 87+ games across 9 domains</a:t>
            </a:r>
            <a:br/>
            <a:r>
              <a:t>with GRPO/DPO training and</a:t>
            </a:r>
            <a:br/>
            <a:r>
              <a:t>safety transfer evaluation.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/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C5FFC8"/>
                </a:solidFill>
                <a:latin typeface="Hubot Sans"/>
              </a:defRPr>
            </a:pPr>
            <a:r>
              <a:t>Kant at a glance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828800"/>
            <a:ext cx="2743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C5FFC8"/>
                </a:solidFill>
                <a:latin typeface="Hubot Sans"/>
              </a:defRPr>
            </a:pPr>
            <a:r>
              <a:t>87+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20040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769978"/>
                </a:solidFill>
                <a:latin typeface="Hubot Sans"/>
              </a:defRPr>
            </a:pPr>
            <a:r>
              <a:t>Games spanning</a:t>
            </a:r>
            <a:br/>
            <a:r>
              <a:t>9 strategic domains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0" y="1828800"/>
            <a:ext cx="2743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B19ECC"/>
                </a:solidFill>
                <a:latin typeface="Hubot Sans"/>
              </a:defRPr>
            </a:pPr>
            <a: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320040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769978"/>
                </a:solidFill>
                <a:latin typeface="Hubot Sans"/>
              </a:defRPr>
            </a:pPr>
            <a:r>
              <a:t>Alignment metrics</a:t>
            </a:r>
            <a:br/>
            <a:r>
              <a:t>normalized to [0, 1]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0" y="1828800"/>
            <a:ext cx="2743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A5A46"/>
                </a:solidFill>
                <a:latin typeface="Hubot Sans"/>
              </a:defRPr>
            </a:pPr>
            <a:r>
              <a:t>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320040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769978"/>
                </a:solidFill>
                <a:latin typeface="Hubot Sans"/>
              </a:defRPr>
            </a:pPr>
            <a:r>
              <a:t>External safety</a:t>
            </a:r>
            <a:br/>
            <a:r>
              <a:t>benchmarks tested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/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C5FFC8"/>
                </a:solidFill>
                <a:latin typeface="Hubot Sans"/>
              </a:defRPr>
            </a:pPr>
            <a:r>
              <a:t>9 strategic domains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41148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600">
                <a:solidFill>
                  <a:srgbClr val="FFFFFF"/>
                </a:solidFill>
                <a:latin typeface="Hubot Sans"/>
              </a:defRPr>
            </a:pPr>
            <a:r>
              <a:t>1. Classical Dilemmas — PD, Stag Hunt, Hawk-Dove</a:t>
            </a:r>
          </a:p>
          <a:p>
            <a:pPr>
              <a:spcAft>
                <a:spcPts val="1400"/>
              </a:spcAft>
              <a:defRPr sz="1600">
                <a:solidFill>
                  <a:srgbClr val="FFFFFF"/>
                </a:solidFill>
                <a:latin typeface="Hubot Sans"/>
              </a:defRPr>
            </a:pPr>
            <a:r>
              <a:t>2. PD Variants — Optional, Asymmetric, Donation</a:t>
            </a:r>
          </a:p>
          <a:p>
            <a:pPr>
              <a:spcAft>
                <a:spcPts val="1400"/>
              </a:spcAft>
              <a:defRPr sz="1600">
                <a:solidFill>
                  <a:srgbClr val="FFFFFF"/>
                </a:solidFill>
                <a:latin typeface="Hubot Sans"/>
              </a:defRPr>
            </a:pPr>
            <a:r>
              <a:t>3. Extended Matrix — Battle of Sexes, RPS, Deadlock</a:t>
            </a:r>
          </a:p>
          <a:p>
            <a:pPr>
              <a:spcAft>
                <a:spcPts val="1400"/>
              </a:spcAft>
              <a:defRPr sz="1600">
                <a:solidFill>
                  <a:srgbClr val="FFFFFF"/>
                </a:solidFill>
                <a:latin typeface="Hubot Sans"/>
              </a:defRPr>
            </a:pPr>
            <a:r>
              <a:t>4. Sequential &amp; Bargaining — Ultimatum, Trust</a:t>
            </a:r>
          </a:p>
          <a:p>
            <a:pPr>
              <a:spcAft>
                <a:spcPts val="1400"/>
              </a:spcAft>
              <a:defRPr sz="1600">
                <a:solidFill>
                  <a:srgbClr val="FFFFFF"/>
                </a:solidFill>
                <a:latin typeface="Hubot Sans"/>
              </a:defRPr>
            </a:pPr>
            <a:r>
              <a:t>5. Information Games — Signaling, Bayesian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1371600"/>
            <a:ext cx="41148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600">
                <a:solidFill>
                  <a:srgbClr val="FFFFFF"/>
                </a:solidFill>
                <a:latin typeface="Hubot Sans"/>
              </a:defRPr>
            </a:pPr>
            <a:r>
              <a:t>6. Market &amp; Competition — Cournot, Bertrand</a:t>
            </a:r>
          </a:p>
          <a:p>
            <a:pPr>
              <a:spcAft>
                <a:spcPts val="1400"/>
              </a:spcAft>
              <a:defRPr sz="1600">
                <a:solidFill>
                  <a:srgbClr val="FFFFFF"/>
                </a:solidFill>
                <a:latin typeface="Hubot Sans"/>
              </a:defRPr>
            </a:pPr>
            <a:r>
              <a:t>7. Auctions — First/second-price, all-pay</a:t>
            </a:r>
          </a:p>
          <a:p>
            <a:pPr>
              <a:spcAft>
                <a:spcPts val="1400"/>
              </a:spcAft>
              <a:defRPr sz="1600">
                <a:solidFill>
                  <a:srgbClr val="FFFFFF"/>
                </a:solidFill>
                <a:latin typeface="Hubot Sans"/>
              </a:defRPr>
            </a:pPr>
            <a:r>
              <a:t>8. Cooperative — Shapley, voting, fair division</a:t>
            </a:r>
          </a:p>
          <a:p>
            <a:pPr>
              <a:spcAft>
                <a:spcPts val="1400"/>
              </a:spcAft>
              <a:defRPr sz="1600">
                <a:solidFill>
                  <a:srgbClr val="FFFFFF"/>
                </a:solidFill>
                <a:latin typeface="Hubot Sans"/>
              </a:defRPr>
            </a:pPr>
            <a:r>
              <a:t>9. Contests &amp; Conflict — Tullock, Blotto</a:t>
            </a:r>
          </a:p>
          <a:p>
            <a:pPr>
              <a:spcAft>
                <a:spcPts val="1400"/>
              </a:spcAft>
              <a:defRPr sz="1600">
                <a:solidFill>
                  <a:srgbClr val="FFFFFF"/>
                </a:solidFill>
                <a:latin typeface="Hubot Sans"/>
              </a:defRPr>
            </a:pPr>
            <a:r>
              <a:t>+ Dynamic game creation at runtime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/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C5FFC8"/>
                </a:solidFill>
                <a:latin typeface="Hubot Sans"/>
              </a:defRPr>
            </a:pPr>
            <a:r>
              <a:t>Classical games: payoff matrices</a:t>
            </a:r>
          </a:p>
        </p:txBody>
      </p:sp>
      <p:pic>
        <p:nvPicPr>
          <p:cNvPr id="5" name="Picture 4" descr="payoff_matri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371600"/>
            <a:ext cx="6400800" cy="32004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14400" y="438912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769978"/>
                </a:solidFill>
                <a:latin typeface="Hubot Sans"/>
              </a:defRPr>
            </a:pPr>
            <a:r>
              <a:t>Cooperation vs. self-interest · Coordination under risk · Conflict escalation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/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C5FFC8"/>
                </a:solidFill>
                <a:latin typeface="Hubot Sans"/>
              </a:defRPr>
            </a:pPr>
            <a:r>
              <a:t>Architecture</a:t>
            </a:r>
          </a:p>
        </p:txBody>
      </p:sp>
      <p:pic>
        <p:nvPicPr>
          <p:cNvPr id="5" name="Picture 4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371600"/>
            <a:ext cx="6400800" cy="32004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14400" y="438912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769978"/>
                </a:solidFill>
                <a:latin typeface="Hubot Sans"/>
              </a:defRPr>
            </a:pPr>
            <a:r>
              <a:t>OpenEnv platform · Gymnasium API · WebSocket · FastAPI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/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C5FFC8"/>
                </a:solidFill>
                <a:latin typeface="Hubot Sans"/>
              </a:defRPr>
            </a:pPr>
            <a:r>
              <a:t>Meta-governance: agents change the rules</a:t>
            </a:r>
          </a:p>
        </p:txBody>
      </p:sp>
      <p:pic>
        <p:nvPicPr>
          <p:cNvPr id="5" name="Picture 4" descr="governance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371600"/>
            <a:ext cx="6400800" cy="32004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14400" y="438912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769978"/>
                </a:solidFill>
                <a:latin typeface="Hubot Sans"/>
              </a:defRPr>
            </a:pPr>
            <a:r>
              <a:t>Proposal types: Parameter, Mechanic, Custom | Mechanisms: Tax, redistribute, insure, quota, veto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/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C5FFC8"/>
                </a:solidFill>
                <a:latin typeface="Hubot Sans"/>
              </a:defRPr>
            </a:pPr>
            <a:r>
              <a:t>GRPO / DPO training pipeline</a:t>
            </a:r>
          </a:p>
        </p:txBody>
      </p:sp>
      <p:pic>
        <p:nvPicPr>
          <p:cNvPr id="5" name="Picture 4" descr="training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371600"/>
            <a:ext cx="6400800" cy="32004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14400" y="438912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769978"/>
                </a:solidFill>
                <a:latin typeface="Hubot Sans"/>
              </a:defRPr>
            </a:pPr>
            <a:r>
              <a:t>GRPO: group relative rewards, multiple rollouts | DPO: preference pairs, no reward model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/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C5FFC8"/>
                </a:solidFill>
                <a:latin typeface="Hubot Sans"/>
              </a:defRPr>
            </a:pPr>
            <a:r>
              <a:t>Tournament results</a:t>
            </a:r>
          </a:p>
        </p:txBody>
      </p:sp>
      <p:pic>
        <p:nvPicPr>
          <p:cNvPr id="5" name="Picture 4" descr="tournament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371600"/>
            <a:ext cx="6400800" cy="32004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14400" y="438912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769978"/>
                </a:solidFill>
                <a:latin typeface="Hubot Sans"/>
              </a:defRPr>
            </a:pPr>
            <a:r>
              <a:t>Illustrative data. Full multi-model results TBD.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/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C5FFC8"/>
                </a:solidFill>
                <a:latin typeface="Hubot Sans"/>
              </a:defRPr>
            </a:pPr>
            <a:r>
              <a:t>Team</a:t>
            </a:r>
          </a:p>
        </p:txBody>
      </p:sp>
      <p:pic>
        <p:nvPicPr>
          <p:cNvPr id="5" name="Picture 4" descr="jakub-toware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371600"/>
            <a:ext cx="1828800" cy="1828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14400" y="3657600"/>
            <a:ext cx="3200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Hubot Sans"/>
              </a:defRPr>
            </a:pPr>
            <a:r>
              <a:t>Jakub Towarek</a:t>
            </a:r>
          </a:p>
        </p:txBody>
      </p:sp>
      <p:pic>
        <p:nvPicPr>
          <p:cNvPr id="7" name="Picture 6" descr="lukasz-bartoszcz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0" y="1371600"/>
            <a:ext cx="1828800" cy="18288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29200" y="3657600"/>
            <a:ext cx="3200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Hubot Sans"/>
              </a:defRPr>
            </a:pPr>
            <a:r>
              <a:t>Lukasz Bartoszcze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0" y="438912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769978"/>
                </a:solidFill>
                <a:latin typeface="Hubot Sans"/>
              </a:defRPr>
            </a:pPr>
            <a:r>
              <a:t>Wisent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/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000" b="1">
                <a:solidFill>
                  <a:srgbClr val="C5FFC8"/>
                </a:solidFill>
                <a:latin typeface="Hubot Sans"/>
              </a:defRPr>
            </a:pPr>
            <a:r>
              <a:t>Kant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200400"/>
            <a:ext cx="7315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FFFFFF"/>
                </a:solidFill>
                <a:latin typeface="Hubot Sans"/>
              </a:defRPr>
            </a:pPr>
            <a:r>
              <a:t>Game theory as an alignment substrate.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0" y="4114800"/>
            <a:ext cx="3657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769978"/>
                </a:solidFill>
                <a:latin typeface="Hubot Sans"/>
              </a:defRPr>
            </a:pPr>
            <a:r>
              <a:t>github.com/wisent-ai/OpenEnv</a:t>
            </a:r>
            <a:br/>
            <a:r>
              <a:t>wisent.ai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